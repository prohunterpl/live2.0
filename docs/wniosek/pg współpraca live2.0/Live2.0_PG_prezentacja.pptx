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8" d="100"/>
          <a:sy n="108" d="100"/>
        </p:scale>
        <p:origin x="170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102240" y="2386744"/>
            <a:ext cx="693952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500">
                <a:solidFill>
                  <a:srgbClr val="262626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1396" y="4352544"/>
            <a:ext cx="5101209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19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3302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6145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106424" y="2386744"/>
            <a:ext cx="6940296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500">
                <a:solidFill>
                  <a:srgbClr val="262626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21396" y="4352465"/>
            <a:ext cx="5101209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1900">
                <a:solidFill>
                  <a:schemeClr val="tx1"/>
                </a:solidFill>
              </a:defRPr>
            </a:lvl1pPr>
            <a:lvl2pPr marL="45720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0642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2239" y="2638044"/>
            <a:ext cx="3288023" cy="310198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3737" y="2638044"/>
            <a:ext cx="3290516" cy="3101982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7805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2239" y="2313434"/>
            <a:ext cx="3288024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2239" y="3143250"/>
            <a:ext cx="3288024" cy="2596776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737" y="3143250"/>
            <a:ext cx="3290516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753737" y="2313434"/>
            <a:ext cx="3290516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8917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351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485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40703" y="2243829"/>
            <a:ext cx="3290594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100">
                <a:solidFill>
                  <a:srgbClr val="262626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2060" y="804672"/>
            <a:ext cx="361188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2965" y="3549918"/>
            <a:ext cx="284607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640703" y="6236208"/>
            <a:ext cx="3806398" cy="320040"/>
          </a:xfrm>
        </p:spPr>
        <p:txBody>
          <a:bodyPr>
            <a:normAutofit/>
          </a:bodyPr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1316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1" y="0"/>
            <a:ext cx="4571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40080" y="2243828"/>
            <a:ext cx="3291840" cy="1143000"/>
          </a:xfrm>
          <a:solidFill>
            <a:srgbClr val="FFFFFF"/>
          </a:solidFill>
          <a:ln>
            <a:solidFill>
              <a:srgbClr val="262626"/>
            </a:solidFill>
          </a:ln>
        </p:spPr>
        <p:txBody>
          <a:bodyPr anchor="ctr" anchorCtr="1">
            <a:noAutofit/>
          </a:bodyPr>
          <a:lstStyle>
            <a:lvl1pPr>
              <a:defRPr sz="2100">
                <a:solidFill>
                  <a:srgbClr val="262626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72000" y="-42172"/>
            <a:ext cx="4576573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2965" y="3549919"/>
            <a:ext cx="284607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640080" y="6236208"/>
            <a:ext cx="3803904" cy="320040"/>
          </a:xfrm>
        </p:spPr>
        <p:txBody>
          <a:bodyPr>
            <a:normAutofit/>
          </a:bodyPr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3990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8469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9834" y="937260"/>
            <a:ext cx="1053966" cy="4983480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06046" y="937260"/>
            <a:ext cx="4716174" cy="4983480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4714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8943" y="6238816"/>
            <a:ext cx="2065310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02239" y="6236208"/>
            <a:ext cx="4556664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40112" y="6217920"/>
            <a:ext cx="365760" cy="365760"/>
          </a:xfrm>
          <a:prstGeom prst="ellipse">
            <a:avLst/>
          </a:prstGeom>
          <a:solidFill>
            <a:srgbClr val="1D1D1D">
              <a:alpha val="69804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24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2.0 + HPC – Spotkanie z PG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Cel: omówienie współpracy i wspólnego wniosku NCN OPUS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F3CE1D38-73C0-8491-56D7-0417329AE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3522" y="4787283"/>
            <a:ext cx="1380478" cy="207071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Cel naukowy projektu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Symulacja procesów od energii → materii → życia</a:t>
            </a:r>
          </a:p>
          <a:p>
            <a:pPr>
              <a:defRPr sz="2000"/>
            </a:pPr>
            <a:r>
              <a:t>Badanie emergencji nowych zjawisk</a:t>
            </a:r>
          </a:p>
          <a:p>
            <a:pPr>
              <a:defRPr sz="2000"/>
            </a:pPr>
            <a:r>
              <a:t>Nowe modele dla fizyki, biologii i AI</a:t>
            </a: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33E848D7-6A80-4F46-CC98-A0A1FE9E51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3522" y="4787283"/>
            <a:ext cx="1380478" cy="207071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Dlaczego to ważne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Brak uniwersalnych modeli ewolucji systemów</a:t>
            </a:r>
          </a:p>
          <a:p>
            <a:pPr>
              <a:defRPr sz="2000"/>
            </a:pPr>
            <a:r>
              <a:t>Nowatorskie połączenie fizyki, chemii, biologii i AI</a:t>
            </a:r>
          </a:p>
          <a:p>
            <a:pPr>
              <a:defRPr sz="2000"/>
            </a:pPr>
            <a:r>
              <a:t>Potencjalne przełomy naukowe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66D3C2C2-E326-278F-6530-4C983AE0B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3522" y="4787283"/>
            <a:ext cx="1380478" cy="20707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Stan obecny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Prototyp v1 działa – cząsteczki + pola energii</a:t>
            </a:r>
          </a:p>
          <a:p>
            <a:pPr>
              <a:defRPr sz="2000"/>
            </a:pPr>
            <a:r>
              <a:t>Problemy: duże zużycie zasobów</a:t>
            </a:r>
          </a:p>
          <a:p>
            <a:pPr>
              <a:defRPr sz="2000"/>
            </a:pPr>
            <a:r>
              <a:t>Potrzeba skalowalności i optymalizacji HPC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F2E2CD28-7818-0759-0172-3E43B312DD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3522" y="4787283"/>
            <a:ext cx="1380478" cy="207071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 rozwoju (Roadmap)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v1: 2D cząsteczki + energia</a:t>
            </a:r>
          </a:p>
          <a:p>
            <a:pPr>
              <a:defRPr sz="2000"/>
            </a:pPr>
            <a:r>
              <a:t>v2: transformacje cząsteczek</a:t>
            </a:r>
          </a:p>
          <a:p>
            <a:pPr>
              <a:defRPr sz="2000"/>
            </a:pPr>
            <a:r>
              <a:t>v3: 3D, większe układy, mutacje</a:t>
            </a:r>
          </a:p>
          <a:p>
            <a:pPr>
              <a:defRPr sz="2000"/>
            </a:pPr>
            <a:r>
              <a:t>v4: integracja AI, analiza wyników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065B200A-E40D-1225-A960-75C339B5A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3522" y="4787283"/>
            <a:ext cx="1380478" cy="20707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Wyzwania obliczeniowe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Ogromne koszty obliczeń (skalowanie n^2/n^3)</a:t>
            </a:r>
          </a:p>
          <a:p>
            <a:pPr>
              <a:defRPr sz="2000"/>
            </a:pPr>
            <a:r>
              <a:t>Równoległe przetwarzanie (MPI, CUDA, OpenCL)</a:t>
            </a:r>
          </a:p>
          <a:p>
            <a:pPr>
              <a:defRPr sz="2000"/>
            </a:pPr>
            <a:r>
              <a:t>Przechowywanie i analiza danych (Big Data)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CF5C156B-81EA-6CCC-778C-0D4F783620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3522" y="4787283"/>
            <a:ext cx="1380478" cy="207071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Dlaczego HPC jest kluczowe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Optymalizacja pod superkomputery</a:t>
            </a:r>
          </a:p>
          <a:p>
            <a:pPr>
              <a:defRPr sz="2000"/>
            </a:pPr>
            <a:r>
              <a:t>Skalowanie do tysięcy rdzeni / GPU</a:t>
            </a:r>
          </a:p>
          <a:p>
            <a:pPr>
              <a:defRPr sz="2000"/>
            </a:pPr>
            <a:r>
              <a:t>Wykorzystanie TASK i klastrów PG</a:t>
            </a:r>
          </a:p>
          <a:p>
            <a:pPr>
              <a:defRPr sz="2000"/>
            </a:pPr>
            <a:r>
              <a:t>PG = partner technologiczny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1C2DA61E-81BC-FDAC-52F3-128B73A720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3522" y="4787283"/>
            <a:ext cx="1380478" cy="2070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Możliwe role PG w projekcie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Optymalizacja kodu pod HPC</a:t>
            </a:r>
          </a:p>
          <a:p>
            <a:pPr>
              <a:defRPr sz="2000"/>
            </a:pPr>
            <a:r>
              <a:t>Testy wydajności i benchmarki</a:t>
            </a:r>
          </a:p>
          <a:p>
            <a:pPr>
              <a:defRPr sz="2000"/>
            </a:pPr>
            <a:r>
              <a:t>Wsparcie w architekturze rozproszonej</a:t>
            </a:r>
          </a:p>
          <a:p>
            <a:pPr>
              <a:defRPr sz="2000"/>
            </a:pPr>
            <a:r>
              <a:t>Formalne partnerstwo w OPUS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C9E91CB1-D94D-0C95-E771-22C49964B9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3522" y="4787283"/>
            <a:ext cx="1380478" cy="207071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Korzyści dla PG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Publikacje w HPC i symulacjach</a:t>
            </a:r>
          </a:p>
          <a:p>
            <a:pPr>
              <a:defRPr sz="2000"/>
            </a:pPr>
            <a:r>
              <a:t>Współautorstwo grantów NCN/UE</a:t>
            </a:r>
          </a:p>
          <a:p>
            <a:pPr>
              <a:defRPr sz="2000"/>
            </a:pPr>
            <a:r>
              <a:t>Rozwój metod HPC na unikalnym case study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9A7E5690-BDAA-4097-D013-E0198FA69D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3522" y="4787283"/>
            <a:ext cx="1380478" cy="207071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Pytania do PG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Jakie zasoby HPC możecie udostępnić?</a:t>
            </a:r>
          </a:p>
          <a:p>
            <a:pPr>
              <a:defRPr sz="2000"/>
            </a:pPr>
            <a:r>
              <a:t>Jakie doświadczenia w optymalizacji symulacji?</a:t>
            </a:r>
          </a:p>
          <a:p>
            <a:pPr>
              <a:defRPr sz="2000"/>
            </a:pPr>
            <a:r>
              <a:t>Czy możecie być partnerem konsorcjum OPUS?</a:t>
            </a:r>
          </a:p>
          <a:p>
            <a:pPr>
              <a:defRPr sz="2000"/>
            </a:pPr>
            <a:r>
              <a:t>Jakie dodatkowe kierunki współpracy widzicie?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731E45F7-EC7C-DD8E-43D1-AAD4F8E79C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3522" y="4787283"/>
            <a:ext cx="1380478" cy="207071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Podsumowanie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/>
            </a:pPr>
            <a:r>
              <a:t>Live 2.0 = przełomowy projekt naukowy</a:t>
            </a:r>
          </a:p>
          <a:p>
            <a:pPr>
              <a:defRPr sz="2000"/>
            </a:pPr>
            <a:r>
              <a:t>HPC = fundament realizacji</a:t>
            </a:r>
          </a:p>
          <a:p>
            <a:pPr>
              <a:defRPr sz="2000"/>
            </a:pPr>
            <a:r>
              <a:t>PG = kluczowy partner rozwoju i sukcesu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B84D4018-9DA2-7434-C60D-E9C34CBDC9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3522" y="4787283"/>
            <a:ext cx="1380478" cy="20707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Paczka">
  <a:themeElements>
    <a:clrScheme name="Paczka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czka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czka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TM10001115[[fn=Paczka]]</Template>
  <TotalTime>5</TotalTime>
  <Words>251</Words>
  <Application>Microsoft Office PowerPoint</Application>
  <PresentationFormat>Pokaz na ekranie (4:3)</PresentationFormat>
  <Paragraphs>57</Paragraphs>
  <Slides>11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2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11</vt:i4>
      </vt:variant>
    </vt:vector>
  </HeadingPairs>
  <TitlesOfParts>
    <vt:vector size="14" baseType="lpstr">
      <vt:lpstr>Arial</vt:lpstr>
      <vt:lpstr>Gill Sans MT</vt:lpstr>
      <vt:lpstr>Paczka</vt:lpstr>
      <vt:lpstr>Live 2.0 + HPC – Spotkanie z PG</vt:lpstr>
      <vt:lpstr>Cel naukowy projektu</vt:lpstr>
      <vt:lpstr>Dlaczego to ważne</vt:lpstr>
      <vt:lpstr>Stan obecny</vt:lpstr>
      <vt:lpstr>Plan rozwoju (Roadmap)</vt:lpstr>
      <vt:lpstr>Wyzwania obliczeniowe</vt:lpstr>
      <vt:lpstr>Dlaczego HPC jest kluczowe</vt:lpstr>
      <vt:lpstr>Możliwe role PG w projekcie</vt:lpstr>
      <vt:lpstr>Korzyści dla PG</vt:lpstr>
      <vt:lpstr>Pytania do PG</vt:lpstr>
      <vt:lpstr>Podsumowanie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Michał Klawikowski</cp:lastModifiedBy>
  <cp:revision>2</cp:revision>
  <dcterms:created xsi:type="dcterms:W3CDTF">2013-01-27T09:14:16Z</dcterms:created>
  <dcterms:modified xsi:type="dcterms:W3CDTF">2025-10-03T14:00:07Z</dcterms:modified>
  <cp:category/>
</cp:coreProperties>
</file>